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0" r:id="rId5"/>
    <p:sldId id="264" r:id="rId6"/>
    <p:sldId id="258" r:id="rId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1856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9653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868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0094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7694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72228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3486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08955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1796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2162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98462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F7AA0-D22A-4764-B876-B257A85F1808}" type="datetimeFigureOut">
              <a:rPr lang="el-GR" smtClean="0"/>
              <a:t>26/Φεβ/2024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9DD44-0220-4E67-8FD6-41CCE9D7E7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8074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linux-tutorial/" TargetMode="External"/><Relationship Id="rId2" Type="http://schemas.openxmlformats.org/officeDocument/2006/relationships/hyperlink" Target="http://simu5g.org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dnuggets.com/2023/08/times-series-analysis-arima-models-python.html" TargetMode="External"/><Relationship Id="rId5" Type="http://schemas.openxmlformats.org/officeDocument/2006/relationships/hyperlink" Target="https://xgboost.readthedocs.io/en/stable/" TargetMode="External"/><Relationship Id="rId4" Type="http://schemas.openxmlformats.org/officeDocument/2006/relationships/hyperlink" Target="https://pytorch.org/docs/stable/generated/torch.nn.LSTM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py.org/" TargetMode="External"/><Relationship Id="rId2" Type="http://schemas.openxmlformats.org/officeDocument/2006/relationships/hyperlink" Target="https://pandas.pydata.org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-lfs.com/" TargetMode="External"/><Relationship Id="rId13" Type="http://schemas.openxmlformats.org/officeDocument/2006/relationships/hyperlink" Target="https://aws.amazon.com/sagemaker/mlops/?sagemaker-data-wrangler-whats-new.sort-by=item.additionalFields.postDateTime&amp;sagemaker-data-wrangler-whats-new.sort-order=desc" TargetMode="External"/><Relationship Id="rId3" Type="http://schemas.openxmlformats.org/officeDocument/2006/relationships/hyperlink" Target="https://fastapi.tiangolo.com/" TargetMode="External"/><Relationship Id="rId7" Type="http://schemas.openxmlformats.org/officeDocument/2006/relationships/hyperlink" Target="https://grafana.com/" TargetMode="External"/><Relationship Id="rId12" Type="http://schemas.openxmlformats.org/officeDocument/2006/relationships/hyperlink" Target="https://cloud.google.com/architecture/mlops-continuous-delivery-and-automation-pipelines-in-machine-learning" TargetMode="External"/><Relationship Id="rId2" Type="http://schemas.openxmlformats.org/officeDocument/2006/relationships/hyperlink" Target="https://flask.palletsprojects.com/en/3.0.x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sh.plotly.com/" TargetMode="External"/><Relationship Id="rId11" Type="http://schemas.openxmlformats.org/officeDocument/2006/relationships/hyperlink" Target="https://www.kubeflow.org/" TargetMode="External"/><Relationship Id="rId5" Type="http://schemas.openxmlformats.org/officeDocument/2006/relationships/hyperlink" Target="https://dev.mysql.com/doc/mysql-getting-started/en/" TargetMode="External"/><Relationship Id="rId15" Type="http://schemas.openxmlformats.org/officeDocument/2006/relationships/hyperlink" Target="https://www.keycloak.org/" TargetMode="External"/><Relationship Id="rId10" Type="http://schemas.openxmlformats.org/officeDocument/2006/relationships/hyperlink" Target="https://github.com/kedro-org/kedro" TargetMode="External"/><Relationship Id="rId4" Type="http://schemas.openxmlformats.org/officeDocument/2006/relationships/hyperlink" Target="https://swagger.io/" TargetMode="External"/><Relationship Id="rId9" Type="http://schemas.openxmlformats.org/officeDocument/2006/relationships/hyperlink" Target="https://mlflow.org/" TargetMode="External"/><Relationship Id="rId14" Type="http://schemas.openxmlformats.org/officeDocument/2006/relationships/hyperlink" Target="https://www.docker.com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228594" y="114300"/>
            <a:ext cx="2362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Thesis overview</a:t>
            </a:r>
            <a:endParaRPr lang="el-GR" sz="2400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228594" y="556915"/>
            <a:ext cx="111347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Title: Continuous Machine Learning under Concept Drift for CCAM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Estimated duration: 6 months – 24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Period: 1 Mar – 1 Sep (TBD on final presentation)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Technical Description: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 dirty="0" smtClean="0"/>
              <a:t>CCAM data simulation</a:t>
            </a:r>
            <a:r>
              <a:rPr lang="en-US" dirty="0" smtClean="0"/>
              <a:t>: Simulate a connected vehicular environment, where client-vehicles move around an area constantly collecting kinematic and network (synthetic)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 dirty="0" smtClean="0"/>
              <a:t>ML model development</a:t>
            </a:r>
            <a:r>
              <a:rPr lang="en-US" dirty="0" smtClean="0"/>
              <a:t>: Using the synthetic datasets train prediction models to be used as enablers in CCAM application e.g., network delay prediction, vehicle trajectory prediction,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 dirty="0" smtClean="0"/>
              <a:t>Drift scenarios simulation</a:t>
            </a:r>
            <a:r>
              <a:rPr lang="en-US" dirty="0" smtClean="0"/>
              <a:t>: Manipulate the simulator to include concept drift scenarios – data distribution changes due to an external cause e.g., installation of a new </a:t>
            </a:r>
            <a:r>
              <a:rPr lang="en-US" dirty="0" err="1" smtClean="0"/>
              <a:t>basestation</a:t>
            </a:r>
            <a:r>
              <a:rPr lang="en-US" dirty="0" smtClean="0"/>
              <a:t>, a change in user mobility patterns/habits.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 dirty="0" smtClean="0"/>
              <a:t>Concept drift detection</a:t>
            </a:r>
            <a:r>
              <a:rPr lang="en-US" dirty="0" smtClean="0"/>
              <a:t>: Explore statistical tests and methods to accurately and timely detect such drifts in CCAM environments. Implement a decision system to suggest when mitigation actions are needed.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 dirty="0" smtClean="0"/>
              <a:t>Concept drift adaptation</a:t>
            </a:r>
            <a:r>
              <a:rPr lang="en-US" dirty="0" smtClean="0"/>
              <a:t>: Explore ideas of how to deal with drifted data. Monitor model performance/degradation. Suggest counter-measures for drifted models e.g., re-training, model switch, train from scratch,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 dirty="0" err="1" smtClean="0"/>
              <a:t>MLOps</a:t>
            </a:r>
            <a:r>
              <a:rPr lang="en-US" u="sng" dirty="0" smtClean="0"/>
              <a:t> platform</a:t>
            </a:r>
            <a:r>
              <a:rPr lang="en-US" dirty="0" smtClean="0"/>
              <a:t>: Implement an integrated platform that manages all the above-mentioned functionalities centrally. Data and process visualization to the end-user.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2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228594" y="114300"/>
            <a:ext cx="2362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Thesis streams</a:t>
            </a:r>
            <a:endParaRPr lang="el-GR" sz="2400" dirty="0"/>
          </a:p>
        </p:txBody>
      </p:sp>
      <p:sp>
        <p:nvSpPr>
          <p:cNvPr id="2" name="Rectangle 1"/>
          <p:cNvSpPr/>
          <p:nvPr/>
        </p:nvSpPr>
        <p:spPr>
          <a:xfrm>
            <a:off x="1200144" y="695324"/>
            <a:ext cx="9391656" cy="1428751"/>
          </a:xfrm>
          <a:prstGeom prst="rect">
            <a:avLst/>
          </a:prstGeom>
          <a:solidFill>
            <a:srgbClr val="DEEBF7">
              <a:alpha val="1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Common Base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78930" y="1142999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Simulator setup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52551" y="1143000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Synthetic data generation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05309" y="1142999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Drift scenarios development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31688" y="1142999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Drift data generation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58067" y="1142999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Centralized server (platform) setup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84446" y="1142999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Tool maintenance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7190" y="3228973"/>
            <a:ext cx="4772031" cy="1428751"/>
          </a:xfrm>
          <a:prstGeom prst="rect">
            <a:avLst/>
          </a:prstGeom>
          <a:solidFill>
            <a:srgbClr val="DEEBF7">
              <a:alpha val="1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Stream 1: ML engineering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5976" y="3676648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Model drift/decay estimation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9597" y="3676649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Model training (multiple models)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2355" y="3676648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Support for 2-3 ML tasks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62731" y="3219449"/>
            <a:ext cx="4772031" cy="1428751"/>
          </a:xfrm>
          <a:prstGeom prst="rect">
            <a:avLst/>
          </a:prstGeom>
          <a:solidFill>
            <a:srgbClr val="DEEBF7">
              <a:alpha val="1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Stream 2: Data engineering 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41517" y="3667124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Concept drift detection algorithms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715138" y="3667125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Data analysis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767896" y="3667124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Concept drift mitigation strategies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590799" y="5095875"/>
            <a:ext cx="6653205" cy="1428751"/>
          </a:xfrm>
          <a:prstGeom prst="rect">
            <a:avLst/>
          </a:prstGeom>
          <a:solidFill>
            <a:srgbClr val="DEEBF7">
              <a:alpha val="1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Stream 3: Software engineering 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69585" y="5543550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Integration - Interfaces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6" y="5543551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Model repositories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795963" y="5543550"/>
            <a:ext cx="1519245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User-GUI and analytics (measurements)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474748" y="5543549"/>
            <a:ext cx="1366838" cy="6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TBD: AUTH, </a:t>
            </a:r>
            <a:r>
              <a:rPr lang="en-US" sz="1400" dirty="0" err="1" smtClean="0">
                <a:solidFill>
                  <a:schemeClr val="accent1">
                    <a:lumMod val="50000"/>
                  </a:schemeClr>
                </a:solidFill>
              </a:rPr>
              <a:t>Dockerization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9" name="Straight Arrow Connector 28"/>
          <p:cNvCxnSpPr>
            <a:stCxn id="2" idx="2"/>
            <a:endCxn id="12" idx="0"/>
          </p:cNvCxnSpPr>
          <p:nvPr/>
        </p:nvCxnSpPr>
        <p:spPr>
          <a:xfrm flipH="1">
            <a:off x="2743206" y="2124075"/>
            <a:ext cx="3152766" cy="11048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" idx="2"/>
            <a:endCxn id="19" idx="0"/>
          </p:cNvCxnSpPr>
          <p:nvPr/>
        </p:nvCxnSpPr>
        <p:spPr>
          <a:xfrm>
            <a:off x="5895972" y="2124075"/>
            <a:ext cx="3052775" cy="10953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" idx="2"/>
            <a:endCxn id="23" idx="0"/>
          </p:cNvCxnSpPr>
          <p:nvPr/>
        </p:nvCxnSpPr>
        <p:spPr>
          <a:xfrm>
            <a:off x="5895972" y="2124075"/>
            <a:ext cx="21430" cy="2971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3"/>
            <a:endCxn id="19" idx="1"/>
          </p:cNvCxnSpPr>
          <p:nvPr/>
        </p:nvCxnSpPr>
        <p:spPr>
          <a:xfrm flipV="1">
            <a:off x="5129221" y="3933825"/>
            <a:ext cx="1433510" cy="9524"/>
          </a:xfrm>
          <a:prstGeom prst="straightConnector1">
            <a:avLst/>
          </a:prstGeom>
          <a:ln w="38100"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2"/>
            <a:endCxn id="23" idx="0"/>
          </p:cNvCxnSpPr>
          <p:nvPr/>
        </p:nvCxnSpPr>
        <p:spPr>
          <a:xfrm>
            <a:off x="2743206" y="4657724"/>
            <a:ext cx="3174196" cy="4381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9" idx="2"/>
            <a:endCxn id="23" idx="0"/>
          </p:cNvCxnSpPr>
          <p:nvPr/>
        </p:nvCxnSpPr>
        <p:spPr>
          <a:xfrm flipH="1">
            <a:off x="5917402" y="4648200"/>
            <a:ext cx="3031345" cy="4476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61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228593" y="114300"/>
            <a:ext cx="4900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Suggested bibliography and tools (1)</a:t>
            </a:r>
            <a:endParaRPr lang="el-GR" sz="240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16781"/>
              </p:ext>
            </p:extLst>
          </p:nvPr>
        </p:nvGraphicFramePr>
        <p:xfrm>
          <a:off x="365125" y="575965"/>
          <a:ext cx="10674351" cy="6106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3075377118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078607981"/>
                    </a:ext>
                  </a:extLst>
                </a:gridCol>
                <a:gridCol w="5848351">
                  <a:extLst>
                    <a:ext uri="{9D8B030D-6E8A-4147-A177-3AD203B41FA5}">
                      <a16:colId xmlns:a16="http://schemas.microsoft.com/office/drawing/2014/main" val="1674220711"/>
                    </a:ext>
                  </a:extLst>
                </a:gridCol>
              </a:tblGrid>
              <a:tr h="430866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Stream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Item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Sources</a:t>
                      </a:r>
                      <a:endParaRPr lang="el-G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394212"/>
                  </a:ext>
                </a:extLst>
              </a:tr>
              <a:tr h="260729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Common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Simulator</a:t>
                      </a:r>
                      <a:r>
                        <a:rPr lang="en-US" sz="1400" baseline="0" dirty="0" smtClean="0"/>
                        <a:t>/Synthetic data generation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OMNET/Veins/SUMO/Simu5G (</a:t>
                      </a:r>
                      <a:r>
                        <a:rPr lang="en-US" sz="1400" dirty="0" smtClean="0">
                          <a:hlinkClick r:id="rId2"/>
                        </a:rPr>
                        <a:t>http://simu5g.org/</a:t>
                      </a:r>
                      <a:r>
                        <a:rPr lang="en-US" sz="1400" dirty="0" smtClean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512024"/>
                  </a:ext>
                </a:extLst>
              </a:tr>
              <a:tr h="32887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Common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Drift scenarios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Lu, </a:t>
                      </a:r>
                      <a:r>
                        <a:rPr lang="en-US" sz="1400" dirty="0" err="1" smtClean="0"/>
                        <a:t>Jie</a:t>
                      </a:r>
                      <a:r>
                        <a:rPr lang="en-US" sz="1400" dirty="0" smtClean="0"/>
                        <a:t>, et al. Learning under concept drift: A review.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013056"/>
                  </a:ext>
                </a:extLst>
              </a:tr>
              <a:tr h="4432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Common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Data analysis (</a:t>
                      </a:r>
                      <a:r>
                        <a:rPr lang="en-US" sz="1400" dirty="0" err="1" smtClean="0"/>
                        <a:t>timeseries</a:t>
                      </a:r>
                      <a:r>
                        <a:rPr lang="en-US" sz="1400" dirty="0" smtClean="0"/>
                        <a:t>)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Brownlee</a:t>
                      </a:r>
                      <a:r>
                        <a:rPr lang="en-US" sz="1400" baseline="0" dirty="0" smtClean="0"/>
                        <a:t> J</a:t>
                      </a:r>
                      <a:r>
                        <a:rPr lang="en-US" sz="1400" dirty="0" smtClean="0"/>
                        <a:t>. Deep learning for time series forecasting: predict the future with MLPs, CNNs and LSTMs in Python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292257"/>
                  </a:ext>
                </a:extLst>
              </a:tr>
              <a:tr h="430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Common</a:t>
                      </a:r>
                      <a:endParaRPr lang="el-G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Centralized server setup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Basic</a:t>
                      </a:r>
                      <a:r>
                        <a:rPr lang="en-US" sz="1400" baseline="0" dirty="0" smtClean="0"/>
                        <a:t> Linux </a:t>
                      </a:r>
                      <a:r>
                        <a:rPr lang="en-US" sz="1400" baseline="0" dirty="0" err="1" smtClean="0"/>
                        <a:t>cmds</a:t>
                      </a:r>
                      <a:r>
                        <a:rPr lang="en-US" sz="1400" baseline="0" dirty="0" smtClean="0"/>
                        <a:t> (</a:t>
                      </a:r>
                      <a:r>
                        <a:rPr lang="en-US" sz="1400" baseline="0" dirty="0" smtClean="0">
                          <a:hlinkClick r:id="rId3"/>
                        </a:rPr>
                        <a:t>https://www.geeksforgeeks.org/linux-tutorial/</a:t>
                      </a:r>
                      <a:r>
                        <a:rPr lang="en-US" sz="1400" baseline="0" dirty="0" smtClean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864459"/>
                  </a:ext>
                </a:extLst>
              </a:tr>
              <a:tr h="430866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1</a:t>
                      </a:r>
                      <a:endParaRPr lang="el-GR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Model training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Pytorch</a:t>
                      </a:r>
                      <a:r>
                        <a:rPr lang="en-US" sz="1400" dirty="0" smtClean="0"/>
                        <a:t>/LSTM </a:t>
                      </a:r>
                      <a:r>
                        <a:rPr lang="en-US" sz="1400" dirty="0" smtClean="0">
                          <a:hlinkClick r:id="rId4"/>
                        </a:rPr>
                        <a:t>https://pytorch.org/docs/stable/generated/torch.nn.LSTM.html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750769"/>
                  </a:ext>
                </a:extLst>
              </a:tr>
              <a:tr h="430866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XGBoost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 smtClean="0">
                          <a:hlinkClick r:id="rId5"/>
                        </a:rPr>
                        <a:t>https://xgboost.readthedocs.io/en/stable/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273832"/>
                  </a:ext>
                </a:extLst>
              </a:tr>
              <a:tr h="443240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ARIMA </a:t>
                      </a:r>
                      <a:r>
                        <a:rPr lang="en-US" sz="1400" dirty="0" smtClean="0">
                          <a:hlinkClick r:id="rId6"/>
                        </a:rPr>
                        <a:t>https://www.kdnuggets.com/2023/08/times-series-analysis-arima-models-python.html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150372"/>
                  </a:ext>
                </a:extLst>
              </a:tr>
              <a:tr h="4432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1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Model drift/decay – Estimators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Bayram</a:t>
                      </a:r>
                      <a:r>
                        <a:rPr lang="en-US" sz="1400" dirty="0" smtClean="0"/>
                        <a:t>, F.,(2022). From concept drift to model degradation: An overview on performance-aware drift detectors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496066"/>
                  </a:ext>
                </a:extLst>
              </a:tr>
              <a:tr h="62575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1</a:t>
                      </a:r>
                      <a:endParaRPr lang="el-GR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ML tasks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Ip</a:t>
                      </a:r>
                      <a:r>
                        <a:rPr lang="en-US" sz="1400" dirty="0" smtClean="0"/>
                        <a:t>, André, Luis </a:t>
                      </a:r>
                      <a:r>
                        <a:rPr lang="en-US" sz="1400" dirty="0" err="1" smtClean="0"/>
                        <a:t>Irio</a:t>
                      </a:r>
                      <a:r>
                        <a:rPr lang="en-US" sz="1400" dirty="0" smtClean="0"/>
                        <a:t>, and Rodolfo Oliveira. "Vehicle trajectory prediction based on LSTM recurrent neural networks." 2021 IEEE 93rd Vehicular Technology Conference (VTC2021-Spring). IEEE, 2021.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50876"/>
                  </a:ext>
                </a:extLst>
              </a:tr>
              <a:tr h="625750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Barmpounakis, </a:t>
                      </a:r>
                      <a:r>
                        <a:rPr lang="en-US" sz="1400" dirty="0" err="1" smtClean="0"/>
                        <a:t>Sokratis</a:t>
                      </a:r>
                      <a:r>
                        <a:rPr lang="en-US" sz="1400" dirty="0" smtClean="0"/>
                        <a:t>, et al. "LSTM-based </a:t>
                      </a:r>
                      <a:r>
                        <a:rPr lang="en-US" sz="1400" dirty="0" err="1" smtClean="0"/>
                        <a:t>QoS</a:t>
                      </a:r>
                      <a:r>
                        <a:rPr lang="en-US" sz="1400" dirty="0" smtClean="0"/>
                        <a:t> prediction for 5G-enabled Connected and Automated Mobility applications." 2021 IEEE 4th 5G World Forum (5GWF). IEEE, 2021.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15441"/>
                  </a:ext>
                </a:extLst>
              </a:tr>
              <a:tr h="625750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Abduljabbar</a:t>
                      </a:r>
                      <a:r>
                        <a:rPr lang="en-US" sz="1400" dirty="0" smtClean="0"/>
                        <a:t>, </a:t>
                      </a:r>
                      <a:r>
                        <a:rPr lang="en-US" sz="1400" dirty="0" err="1" smtClean="0"/>
                        <a:t>Rusul</a:t>
                      </a:r>
                      <a:r>
                        <a:rPr lang="en-US" sz="1400" dirty="0" smtClean="0"/>
                        <a:t> L., Hussein </a:t>
                      </a:r>
                      <a:r>
                        <a:rPr lang="en-US" sz="1400" dirty="0" err="1" smtClean="0"/>
                        <a:t>Dia</a:t>
                      </a:r>
                      <a:r>
                        <a:rPr lang="en-US" sz="1400" dirty="0" smtClean="0"/>
                        <a:t>, and Pei-Wei Tsai. "Unidirectional and bidirectional LSTM models for short-term traffic prediction." Journal of Advanced Transportation 2021 (2021): 1-16.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59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5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228593" y="114300"/>
            <a:ext cx="4900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Suggested bibliography and tools (2)</a:t>
            </a:r>
            <a:endParaRPr lang="el-GR" sz="240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0408"/>
              </p:ext>
            </p:extLst>
          </p:nvPr>
        </p:nvGraphicFramePr>
        <p:xfrm>
          <a:off x="629285" y="690880"/>
          <a:ext cx="10674351" cy="5084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3075377118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078607981"/>
                    </a:ext>
                  </a:extLst>
                </a:gridCol>
                <a:gridCol w="5848351">
                  <a:extLst>
                    <a:ext uri="{9D8B030D-6E8A-4147-A177-3AD203B41FA5}">
                      <a16:colId xmlns:a16="http://schemas.microsoft.com/office/drawing/2014/main" val="1674220711"/>
                    </a:ext>
                  </a:extLst>
                </a:gridCol>
              </a:tblGrid>
              <a:tr h="189885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Stream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Item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Sources</a:t>
                      </a:r>
                      <a:endParaRPr lang="el-G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394212"/>
                  </a:ext>
                </a:extLst>
              </a:tr>
              <a:tr h="359742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2</a:t>
                      </a:r>
                      <a:endParaRPr lang="el-GR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Data analysis (preprocessing, cleaning,</a:t>
                      </a:r>
                      <a:r>
                        <a:rPr lang="en-US" sz="1400" baseline="0" dirty="0" smtClean="0"/>
                        <a:t> stat extraction, feature engineering, etc.)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Pandas (</a:t>
                      </a:r>
                      <a:r>
                        <a:rPr lang="en-US" sz="1400" dirty="0" smtClean="0">
                          <a:hlinkClick r:id="rId2"/>
                        </a:rPr>
                        <a:t>https://pandas.pydata.org/</a:t>
                      </a:r>
                      <a:r>
                        <a:rPr lang="en-US" sz="1400" dirty="0" smtClean="0"/>
                        <a:t>)</a:t>
                      </a:r>
                    </a:p>
                    <a:p>
                      <a:pPr algn="l"/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750769"/>
                  </a:ext>
                </a:extLst>
              </a:tr>
              <a:tr h="359742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Scipy</a:t>
                      </a:r>
                      <a:r>
                        <a:rPr lang="en-US" sz="1400" dirty="0" smtClean="0"/>
                        <a:t> (</a:t>
                      </a:r>
                      <a:r>
                        <a:rPr lang="en-US" sz="1400" dirty="0" smtClean="0">
                          <a:hlinkClick r:id="rId3"/>
                        </a:rPr>
                        <a:t>https://scipy.org/</a:t>
                      </a:r>
                      <a:r>
                        <a:rPr lang="en-US" sz="1400" dirty="0" smtClean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273832"/>
                  </a:ext>
                </a:extLst>
              </a:tr>
              <a:tr h="399534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Brownlee</a:t>
                      </a:r>
                      <a:r>
                        <a:rPr lang="en-US" sz="1400" baseline="0" dirty="0" smtClean="0"/>
                        <a:t> J</a:t>
                      </a:r>
                      <a:r>
                        <a:rPr lang="en-US" sz="1400" dirty="0" smtClean="0"/>
                        <a:t>. Deep learning for time series forecasting: predict the future with MLPs, CNNs and LSTMs in Python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150372"/>
                  </a:ext>
                </a:extLst>
              </a:tr>
              <a:tr h="3995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2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Concept drift detection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Abdu, Nail </a:t>
                      </a:r>
                      <a:r>
                        <a:rPr lang="en-US" sz="1400" dirty="0" err="1" smtClean="0"/>
                        <a:t>Adeeb</a:t>
                      </a:r>
                      <a:r>
                        <a:rPr lang="en-US" sz="1400" dirty="0" smtClean="0"/>
                        <a:t> Ali, and Khaled Omer </a:t>
                      </a:r>
                      <a:r>
                        <a:rPr lang="en-US" sz="1400" dirty="0" err="1" smtClean="0"/>
                        <a:t>Basulaim</a:t>
                      </a:r>
                      <a:r>
                        <a:rPr lang="en-US" sz="1400" dirty="0" smtClean="0"/>
                        <a:t>. "A review of tracking concept drift detection in machine learning." Recent Trends in Computational Sciences (2023): 36-41.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496066"/>
                  </a:ext>
                </a:extLst>
              </a:tr>
              <a:tr h="564048">
                <a:tc rowSpan="4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2</a:t>
                      </a:r>
                      <a:endParaRPr lang="el-GR" sz="14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Concept</a:t>
                      </a:r>
                      <a:r>
                        <a:rPr lang="en-US" sz="1400" baseline="0" dirty="0" smtClean="0"/>
                        <a:t> drift mitigation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Hoens</a:t>
                      </a:r>
                      <a:r>
                        <a:rPr lang="en-US" sz="1400" dirty="0" smtClean="0"/>
                        <a:t>, T. Ryan, </a:t>
                      </a:r>
                      <a:r>
                        <a:rPr lang="en-US" sz="1400" dirty="0" err="1" smtClean="0"/>
                        <a:t>Robi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 err="1" smtClean="0"/>
                        <a:t>Polikar</a:t>
                      </a:r>
                      <a:r>
                        <a:rPr lang="en-US" sz="1400" dirty="0" smtClean="0"/>
                        <a:t>, and </a:t>
                      </a:r>
                      <a:r>
                        <a:rPr lang="en-US" sz="1400" dirty="0" err="1" smtClean="0"/>
                        <a:t>Nitesh</a:t>
                      </a:r>
                      <a:r>
                        <a:rPr lang="en-US" sz="1400" dirty="0" smtClean="0"/>
                        <a:t> V. Chawla. "Learning from streaming data with concept drift and imbalance: an overview." Progress in Artificial Intelligence 1 (2012): 89-101.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50876"/>
                  </a:ext>
                </a:extLst>
              </a:tr>
              <a:tr h="564048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Lima, </a:t>
                      </a:r>
                      <a:r>
                        <a:rPr lang="en-US" sz="1400" dirty="0" err="1" smtClean="0"/>
                        <a:t>Marília</a:t>
                      </a:r>
                      <a:r>
                        <a:rPr lang="en-US" sz="1400" dirty="0" smtClean="0"/>
                        <a:t>, et al. "Learning Under Concept Drift for Regression—A Systematic Literature Review." IEEE Access 10 (2022): 45410-45429.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15441"/>
                  </a:ext>
                </a:extLst>
              </a:tr>
              <a:tr h="564048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Bayram</a:t>
                      </a:r>
                      <a:r>
                        <a:rPr lang="en-US" sz="1400" dirty="0" smtClean="0"/>
                        <a:t>, F.,(2022). From concept drift to model degradation: An overview on performance-aware drift detectors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59463"/>
                  </a:ext>
                </a:extLst>
              </a:tr>
              <a:tr h="564048">
                <a:tc vMerge="1">
                  <a:txBody>
                    <a:bodyPr/>
                    <a:lstStyle/>
                    <a:p>
                      <a:pPr algn="l"/>
                      <a:endParaRPr lang="el-G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Mehmood</a:t>
                      </a:r>
                      <a:r>
                        <a:rPr lang="en-US" sz="1400" dirty="0" smtClean="0"/>
                        <a:t>, Hassan, et al. "Concept drift adaptation techniques in distributed environment for real-world data streams." Smart Cities 4.1 (2021): 349-371.</a:t>
                      </a:r>
                    </a:p>
                    <a:p>
                      <a:pPr algn="l"/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546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1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228593" y="114300"/>
            <a:ext cx="4900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Suggested bibliography and tools (3)</a:t>
            </a:r>
            <a:endParaRPr lang="el-GR" sz="240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806837"/>
              </p:ext>
            </p:extLst>
          </p:nvPr>
        </p:nvGraphicFramePr>
        <p:xfrm>
          <a:off x="629285" y="690880"/>
          <a:ext cx="10674351" cy="580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3075377118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078607981"/>
                    </a:ext>
                  </a:extLst>
                </a:gridCol>
                <a:gridCol w="5848351">
                  <a:extLst>
                    <a:ext uri="{9D8B030D-6E8A-4147-A177-3AD203B41FA5}">
                      <a16:colId xmlns:a16="http://schemas.microsoft.com/office/drawing/2014/main" val="1674220711"/>
                    </a:ext>
                  </a:extLst>
                </a:gridCol>
              </a:tblGrid>
              <a:tr h="189885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Stream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Item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Sources</a:t>
                      </a:r>
                      <a:endParaRPr lang="el-G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394212"/>
                  </a:ext>
                </a:extLst>
              </a:tr>
              <a:tr h="359742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3</a:t>
                      </a:r>
                      <a:endParaRPr lang="el-GR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Integration, Interfaces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Flask (</a:t>
                      </a:r>
                      <a:r>
                        <a:rPr lang="en-US" sz="1400" dirty="0" smtClean="0">
                          <a:hlinkClick r:id="rId2"/>
                        </a:rPr>
                        <a:t>https://flask.palletsprojects.com/en/3.0.x/</a:t>
                      </a:r>
                      <a:r>
                        <a:rPr lang="en-US" sz="1400" dirty="0" smtClean="0"/>
                        <a:t>),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err="1" smtClean="0"/>
                        <a:t>FastAPI</a:t>
                      </a:r>
                      <a:r>
                        <a:rPr lang="en-US" sz="1400" dirty="0" smtClean="0"/>
                        <a:t> (</a:t>
                      </a:r>
                      <a:r>
                        <a:rPr lang="en-US" sz="1400" dirty="0" smtClean="0">
                          <a:hlinkClick r:id="rId3"/>
                        </a:rPr>
                        <a:t>https://fastapi.tiangolo.com/</a:t>
                      </a:r>
                      <a:r>
                        <a:rPr lang="en-US" sz="1400" dirty="0" smtClean="0"/>
                        <a:t>), Swagger (</a:t>
                      </a:r>
                      <a:r>
                        <a:rPr lang="en-US" sz="1400" dirty="0" smtClean="0">
                          <a:hlinkClick r:id="rId4"/>
                        </a:rPr>
                        <a:t>https://swagger.io/</a:t>
                      </a:r>
                      <a:r>
                        <a:rPr lang="en-US" sz="1400" dirty="0" smtClean="0"/>
                        <a:t>)</a:t>
                      </a:r>
                      <a:endParaRPr lang="el-GR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750769"/>
                  </a:ext>
                </a:extLst>
              </a:tr>
              <a:tr h="359742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SQL</a:t>
                      </a:r>
                      <a:r>
                        <a:rPr lang="en-US" sz="1400" baseline="0" dirty="0" smtClean="0"/>
                        <a:t> or similar DB (</a:t>
                      </a:r>
                      <a:r>
                        <a:rPr lang="en-US" sz="1400" baseline="0" dirty="0" smtClean="0">
                          <a:hlinkClick r:id="rId5"/>
                        </a:rPr>
                        <a:t>https://dev.mysql.com/doc/mysql-getting-started/en/</a:t>
                      </a:r>
                      <a:r>
                        <a:rPr lang="en-US" sz="1400" baseline="0" dirty="0" smtClean="0"/>
                        <a:t>)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273832"/>
                  </a:ext>
                </a:extLst>
              </a:tr>
              <a:tr h="399534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Linux bash</a:t>
                      </a:r>
                      <a:r>
                        <a:rPr lang="en-US" sz="1400" baseline="0" dirty="0" smtClean="0"/>
                        <a:t> (preliminaries only)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150372"/>
                  </a:ext>
                </a:extLst>
              </a:tr>
              <a:tr h="3995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3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Visualization/GUI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Dash (</a:t>
                      </a:r>
                      <a:r>
                        <a:rPr lang="en-US" sz="1400" dirty="0" smtClean="0">
                          <a:hlinkClick r:id="rId6"/>
                        </a:rPr>
                        <a:t>https://dash.plotly.com/</a:t>
                      </a:r>
                      <a:r>
                        <a:rPr lang="en-US" sz="1400" dirty="0" smtClean="0"/>
                        <a:t>), </a:t>
                      </a:r>
                      <a:r>
                        <a:rPr lang="en-US" sz="1400" dirty="0" err="1" smtClean="0"/>
                        <a:t>Grafana</a:t>
                      </a:r>
                      <a:r>
                        <a:rPr lang="en-US" sz="1400" dirty="0" smtClean="0"/>
                        <a:t> (</a:t>
                      </a:r>
                      <a:r>
                        <a:rPr lang="en-US" sz="1400" dirty="0" smtClean="0">
                          <a:hlinkClick r:id="rId7"/>
                        </a:rPr>
                        <a:t>https://grafana.com/</a:t>
                      </a:r>
                      <a:r>
                        <a:rPr lang="en-US" sz="1400" dirty="0" smtClean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496066"/>
                  </a:ext>
                </a:extLst>
              </a:tr>
              <a:tr h="564048">
                <a:tc rowSpan="4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3</a:t>
                      </a:r>
                      <a:endParaRPr lang="el-GR" sz="14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Repository management and </a:t>
                      </a:r>
                      <a:r>
                        <a:rPr lang="en-US" sz="1400" dirty="0" err="1" smtClean="0"/>
                        <a:t>MLOps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Git</a:t>
                      </a:r>
                      <a:r>
                        <a:rPr lang="en-US" sz="1400" dirty="0" smtClean="0"/>
                        <a:t> LFS</a:t>
                      </a:r>
                      <a:r>
                        <a:rPr lang="en-US" sz="1400" baseline="0" dirty="0" smtClean="0"/>
                        <a:t> (</a:t>
                      </a:r>
                      <a:r>
                        <a:rPr lang="en-US" sz="1400" baseline="0" dirty="0" smtClean="0">
                          <a:hlinkClick r:id="rId8"/>
                        </a:rPr>
                        <a:t>https://git-lfs.com/</a:t>
                      </a:r>
                      <a:r>
                        <a:rPr lang="en-US" sz="1400" baseline="0" dirty="0" smtClean="0"/>
                        <a:t>)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50876"/>
                  </a:ext>
                </a:extLst>
              </a:tr>
              <a:tr h="564048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Mlflow</a:t>
                      </a:r>
                      <a:r>
                        <a:rPr lang="en-US" sz="1400" dirty="0" smtClean="0"/>
                        <a:t> (</a:t>
                      </a:r>
                      <a:r>
                        <a:rPr lang="en-US" sz="1400" dirty="0" smtClean="0">
                          <a:hlinkClick r:id="rId9"/>
                        </a:rPr>
                        <a:t>https://mlflow.org/</a:t>
                      </a:r>
                      <a:r>
                        <a:rPr lang="en-US" sz="1400" dirty="0" smtClean="0"/>
                        <a:t>), </a:t>
                      </a:r>
                      <a:r>
                        <a:rPr lang="en-US" sz="1400" dirty="0" err="1" smtClean="0"/>
                        <a:t>Kedro</a:t>
                      </a:r>
                      <a:r>
                        <a:rPr lang="en-US" sz="1400" dirty="0" smtClean="0"/>
                        <a:t> (</a:t>
                      </a:r>
                      <a:r>
                        <a:rPr lang="en-US" sz="1400" dirty="0" smtClean="0">
                          <a:hlinkClick r:id="rId10"/>
                        </a:rPr>
                        <a:t>https://github.com/kedro-org/kedro</a:t>
                      </a:r>
                      <a:r>
                        <a:rPr lang="en-US" sz="1400" dirty="0" smtClean="0"/>
                        <a:t>), </a:t>
                      </a:r>
                      <a:r>
                        <a:rPr lang="en-US" sz="1400" dirty="0" err="1" smtClean="0"/>
                        <a:t>Kubeflow</a:t>
                      </a:r>
                      <a:r>
                        <a:rPr lang="en-US" sz="1400" dirty="0" smtClean="0"/>
                        <a:t> (</a:t>
                      </a:r>
                      <a:r>
                        <a:rPr lang="en-US" sz="1400" dirty="0" smtClean="0">
                          <a:hlinkClick r:id="rId11"/>
                        </a:rPr>
                        <a:t>https://www.kubeflow.org/</a:t>
                      </a:r>
                      <a:r>
                        <a:rPr lang="en-US" sz="1400" dirty="0" smtClean="0"/>
                        <a:t>) </a:t>
                      </a:r>
                      <a:endParaRPr lang="el-G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15441"/>
                  </a:ext>
                </a:extLst>
              </a:tr>
              <a:tr h="564048"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Google </a:t>
                      </a:r>
                      <a:r>
                        <a:rPr lang="en-US" sz="1400" dirty="0" err="1" smtClean="0"/>
                        <a:t>MLOps</a:t>
                      </a:r>
                      <a:r>
                        <a:rPr lang="en-US" sz="1400" dirty="0" smtClean="0"/>
                        <a:t>: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smtClean="0">
                          <a:hlinkClick r:id="rId12"/>
                        </a:rPr>
                        <a:t>https://cloud.google.com/architecture/mlops-continuous-delivery-and-automation-pipelines-in-machine-learning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59463"/>
                  </a:ext>
                </a:extLst>
              </a:tr>
              <a:tr h="564048">
                <a:tc vMerge="1">
                  <a:txBody>
                    <a:bodyPr/>
                    <a:lstStyle/>
                    <a:p>
                      <a:pPr algn="l"/>
                      <a:endParaRPr lang="el-G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Amazon </a:t>
                      </a:r>
                      <a:r>
                        <a:rPr lang="en-US" sz="1400" dirty="0" err="1" smtClean="0"/>
                        <a:t>MLOps</a:t>
                      </a:r>
                      <a:r>
                        <a:rPr lang="en-US" sz="1400" dirty="0" smtClean="0"/>
                        <a:t>: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baseline="0" dirty="0" smtClean="0">
                          <a:hlinkClick r:id="rId13"/>
                        </a:rPr>
                        <a:t>https://aws.amazon.com/sagemaker/mlops/?sagemaker-data-wrangler-whats-new.sort-by=item.additionalFields.postDateTime&amp;sagemaker-data-wrangler-whats-new.sort-order=desc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546910"/>
                  </a:ext>
                </a:extLst>
              </a:tr>
              <a:tr h="564048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3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Virtualization</a:t>
                      </a:r>
                      <a:r>
                        <a:rPr lang="en-US" sz="1400" baseline="0" dirty="0" smtClean="0"/>
                        <a:t> (TBD)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Docker: </a:t>
                      </a:r>
                      <a:r>
                        <a:rPr lang="en-US" sz="1400" dirty="0" smtClean="0">
                          <a:hlinkClick r:id="rId14"/>
                        </a:rPr>
                        <a:t>https://www.docker.com/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000426"/>
                  </a:ext>
                </a:extLst>
              </a:tr>
              <a:tr h="564048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Stream 3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AUTH and User/Account management (TBD)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Keycloak</a:t>
                      </a:r>
                      <a:r>
                        <a:rPr lang="en-US" sz="1400" baseline="0" dirty="0" smtClean="0"/>
                        <a:t> (</a:t>
                      </a:r>
                      <a:r>
                        <a:rPr lang="en-US" sz="1400" baseline="0" dirty="0" smtClean="0">
                          <a:hlinkClick r:id="rId15"/>
                        </a:rPr>
                        <a:t>https://www.keycloak.org/</a:t>
                      </a:r>
                      <a:r>
                        <a:rPr lang="en-US" sz="1400" baseline="0" dirty="0" smtClean="0"/>
                        <a:t>)</a:t>
                      </a:r>
                      <a:endParaRPr 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445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74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029577"/>
              </p:ext>
            </p:extLst>
          </p:nvPr>
        </p:nvGraphicFramePr>
        <p:xfrm>
          <a:off x="325119" y="1053677"/>
          <a:ext cx="11673842" cy="5255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110">
                  <a:extLst>
                    <a:ext uri="{9D8B030D-6E8A-4147-A177-3AD203B41FA5}">
                      <a16:colId xmlns:a16="http://schemas.microsoft.com/office/drawing/2014/main" val="3075377118"/>
                    </a:ext>
                  </a:extLst>
                </a:gridCol>
                <a:gridCol w="3424919">
                  <a:extLst>
                    <a:ext uri="{9D8B030D-6E8A-4147-A177-3AD203B41FA5}">
                      <a16:colId xmlns:a16="http://schemas.microsoft.com/office/drawing/2014/main" val="3875366293"/>
                    </a:ext>
                  </a:extLst>
                </a:gridCol>
                <a:gridCol w="2302271">
                  <a:extLst>
                    <a:ext uri="{9D8B030D-6E8A-4147-A177-3AD203B41FA5}">
                      <a16:colId xmlns:a16="http://schemas.microsoft.com/office/drawing/2014/main" val="1674220711"/>
                    </a:ext>
                  </a:extLst>
                </a:gridCol>
                <a:gridCol w="2302271">
                  <a:extLst>
                    <a:ext uri="{9D8B030D-6E8A-4147-A177-3AD203B41FA5}">
                      <a16:colId xmlns:a16="http://schemas.microsoft.com/office/drawing/2014/main" val="896535932"/>
                    </a:ext>
                  </a:extLst>
                </a:gridCol>
                <a:gridCol w="2302271">
                  <a:extLst>
                    <a:ext uri="{9D8B030D-6E8A-4147-A177-3AD203B41FA5}">
                      <a16:colId xmlns:a16="http://schemas.microsoft.com/office/drawing/2014/main" val="2942956711"/>
                    </a:ext>
                  </a:extLst>
                </a:gridCol>
              </a:tblGrid>
              <a:tr h="5362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Week(s)</a:t>
                      </a:r>
                      <a:endParaRPr lang="el-G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Common task</a:t>
                      </a:r>
                      <a:endParaRPr lang="el-G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Stream</a:t>
                      </a:r>
                      <a:r>
                        <a:rPr lang="en-US" sz="2400" baseline="0" dirty="0" smtClean="0"/>
                        <a:t> 1 task</a:t>
                      </a:r>
                      <a:endParaRPr lang="el-G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Stream 2 task</a:t>
                      </a:r>
                      <a:endParaRPr lang="el-G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Stream 3 task</a:t>
                      </a:r>
                      <a:endParaRPr lang="el-G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394212"/>
                  </a:ext>
                </a:extLst>
              </a:tr>
              <a:tr h="139436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W1-W4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Thesis logistics, Common material reading, Design of overall motivation and general storyline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l-G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512024"/>
                  </a:ext>
                </a:extLst>
              </a:tr>
              <a:tr h="10725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W5-W11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Simulator setup, data</a:t>
                      </a:r>
                      <a:r>
                        <a:rPr lang="en-US" sz="1800" baseline="0" dirty="0" smtClean="0"/>
                        <a:t> generation, drift scenarios, drift data generation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ML model design, ML task selection w.r.t. to generated data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Drift detection and mitigation techniques selection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System architecture design</a:t>
                      </a:r>
                      <a:endParaRPr lang="el-G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013056"/>
                  </a:ext>
                </a:extLst>
              </a:tr>
              <a:tr h="107258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W12-W16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Evaluation</a:t>
                      </a:r>
                      <a:r>
                        <a:rPr lang="en-US" sz="1800" baseline="0" dirty="0" smtClean="0"/>
                        <a:t> setup design (overall and per-stream)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ML tuning, training-testing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Drif</a:t>
                      </a:r>
                      <a:r>
                        <a:rPr lang="en-US" sz="1800" baseline="0" dirty="0" smtClean="0"/>
                        <a:t>t management implementation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Integration/Backend development and testing</a:t>
                      </a:r>
                      <a:endParaRPr lang="el-G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292257"/>
                  </a:ext>
                </a:extLst>
              </a:tr>
              <a:tr h="75081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W17-W20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Evaluation, results &amp;</a:t>
                      </a:r>
                      <a:r>
                        <a:rPr lang="en-US" sz="1800" baseline="0" dirty="0" smtClean="0"/>
                        <a:t> debugging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GUI development and testing</a:t>
                      </a:r>
                      <a:endParaRPr lang="el-G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496066"/>
                  </a:ext>
                </a:extLst>
              </a:tr>
              <a:tr h="42903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W21-W24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Thesis writing and presentation</a:t>
                      </a:r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l-G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l-G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5087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flipH="1">
            <a:off x="228593" y="114300"/>
            <a:ext cx="4900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Draft time-plan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338017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961</Words>
  <Application>Microsoft Office PowerPoint</Application>
  <PresentationFormat>Widescreen</PresentationFormat>
  <Paragraphs>126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27</cp:revision>
  <dcterms:created xsi:type="dcterms:W3CDTF">2024-02-23T15:30:14Z</dcterms:created>
  <dcterms:modified xsi:type="dcterms:W3CDTF">2024-02-26T14:59:04Z</dcterms:modified>
</cp:coreProperties>
</file>